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2" r:id="rId4"/>
    <p:sldId id="273" r:id="rId5"/>
    <p:sldId id="274" r:id="rId6"/>
    <p:sldId id="276" r:id="rId7"/>
    <p:sldId id="277" r:id="rId8"/>
    <p:sldId id="275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5" r:id="rId22"/>
    <p:sldId id="296" r:id="rId23"/>
    <p:sldId id="297" r:id="rId24"/>
    <p:sldId id="294" r:id="rId25"/>
    <p:sldId id="291" r:id="rId26"/>
    <p:sldId id="292" r:id="rId27"/>
    <p:sldId id="293" r:id="rId28"/>
    <p:sldId id="290" r:id="rId29"/>
    <p:sldId id="270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2484755"/>
          </a:xfrm>
        </p:spPr>
        <p:txBody>
          <a:bodyPr>
            <a:normAutofit fontScale="90000"/>
          </a:bodyPr>
          <a:lstStyle/>
          <a:p>
            <a:r>
              <a:rPr sz="5335"/>
              <a:t>Design and Optimization </a:t>
            </a:r>
            <a:r>
              <a:rPr sz="5335"/>
              <a:t>of a Four-Wheeler Suspension System</a:t>
            </a:r>
            <a:endParaRPr sz="5335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54685" y="2739390"/>
            <a:ext cx="8032115" cy="3387090"/>
          </a:xfrm>
        </p:spPr>
        <p:txBody>
          <a:bodyPr/>
          <a:p>
            <a:pPr marL="0" indent="0">
              <a:buNone/>
            </a:pPr>
            <a:r>
              <a:rPr lang="en-IN" altLang="en-GB" sz="3600">
                <a:sym typeface="+mn-ea"/>
              </a:rPr>
              <a:t>TEAM MEMBERS</a:t>
            </a:r>
            <a:endParaRPr lang="en-IN" altLang="en-GB" sz="3600">
              <a:sym typeface="+mn-ea"/>
            </a:endParaRPr>
          </a:p>
          <a:p>
            <a:r>
              <a:rPr lang="en-IN" altLang="en-GB">
                <a:sym typeface="+mn-ea"/>
              </a:rPr>
              <a:t>D.TEJA-ME23BT049</a:t>
            </a:r>
            <a:endParaRPr lang="en-IN" altLang="en-GB"/>
          </a:p>
          <a:p>
            <a:r>
              <a:rPr lang="en-IN" altLang="en-GB">
                <a:sym typeface="+mn-ea"/>
              </a:rPr>
              <a:t>M.PREM SAI -ME23BT037</a:t>
            </a:r>
            <a:endParaRPr lang="en-IN" altLang="en-GB"/>
          </a:p>
          <a:p>
            <a:r>
              <a:rPr lang="en-IN" altLang="en-GB">
                <a:sym typeface="+mn-ea"/>
              </a:rPr>
              <a:t>N.MAHESH- ME23BT035</a:t>
            </a:r>
            <a:endParaRPr lang="en-IN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OBJECTIVE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Analyze and design a four-wheeler suspension consid</a:t>
            </a:r>
            <a:r>
              <a:rPr lang="en-IN" altLang="en-US"/>
              <a:t>er</a:t>
            </a:r>
            <a:r>
              <a:rPr lang="en-US" altLang="en-GB"/>
              <a:t> static and dynamic loads. Perform fatigue and stress analysis using DME data. Propose an optimized design balancing strength and ride comfort.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/>
              <a:t>Project Overview &amp;Problem Statement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5230"/>
            <a:ext cx="4038600" cy="5298440"/>
          </a:xfrm>
        </p:spPr>
        <p:txBody>
          <a:bodyPr>
            <a:noAutofit/>
          </a:bodyPr>
          <a:p>
            <a:r>
              <a:rPr lang="en-US" altLang="en-GB" sz="1800"/>
              <a:t>This project focuses on analyzing and designing a helical coil spring suspension considering real loading conditions.</a:t>
            </a:r>
            <a:endParaRPr lang="en-US" altLang="en-GB" sz="1800"/>
          </a:p>
          <a:p>
            <a:r>
              <a:rPr lang="en-US" altLang="en-GB" sz="1800"/>
              <a:t>Both static (vehicle weight) and dynamic (road-induced shocks) loads are evaluated.</a:t>
            </a:r>
            <a:endParaRPr lang="en-US" altLang="en-GB" sz="1800"/>
          </a:p>
          <a:p>
            <a:r>
              <a:rPr lang="en-US" altLang="en-GB" sz="1800"/>
              <a:t>In this project, a helical coil spring integrated within a double-wishbone system is analyzed and designed.</a:t>
            </a:r>
            <a:endParaRPr lang="en-US" altLang="en-GB" sz="1800"/>
          </a:p>
          <a:p>
            <a:r>
              <a:rPr lang="en-US" altLang="en-GB" sz="1800"/>
              <a:t>Suspension performance must be enhanced without compromising comfort, safety, or manufacturability.</a:t>
            </a:r>
            <a:endParaRPr lang="en-US" altLang="en-GB" sz="1800"/>
          </a:p>
          <a:p>
            <a:r>
              <a:rPr lang="en-US" altLang="en-GB" sz="1800">
                <a:sym typeface="+mn-ea"/>
              </a:rPr>
              <a:t>The project evaluates performance parameters such as stiffness, damping, stress, and fatigue life to improve overall suspension efficiency.</a:t>
            </a:r>
            <a:endParaRPr lang="en-US" altLang="en-GB" sz="1800"/>
          </a:p>
          <a:p>
            <a:endParaRPr lang="en-US" altLang="en-GB" sz="1800"/>
          </a:p>
        </p:txBody>
      </p:sp>
      <p:pic>
        <p:nvPicPr>
          <p:cNvPr id="5" name="Content Placeholder 4" descr="Double_Wishbone_Suspension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142865" y="2753360"/>
            <a:ext cx="3048000" cy="22186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GB">
                <a:sym typeface="+mn-ea"/>
              </a:rPr>
              <a:t>Project Overview &amp;Problem Statement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7320"/>
            <a:ext cx="4038600" cy="4822825"/>
          </a:xfrm>
        </p:spPr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GB" sz="1700"/>
              <a:t>The study focuses on a double wishbone suspension system integrated with a helical coil spring and damper, commonly used in passenger vehicles for stability and ride comfort.</a:t>
            </a:r>
            <a:endParaRPr lang="en-US" altLang="en-GB" sz="1700"/>
          </a:p>
          <a:p>
            <a:r>
              <a:rPr lang="en-US" altLang="en-GB" sz="1700"/>
              <a:t>Select materials for spring, damper, and wishbone arms that can safely carry vehicle loads while minimizing weight and cost.</a:t>
            </a:r>
            <a:endParaRPr lang="en-US" altLang="en-GB" sz="1700"/>
          </a:p>
          <a:p>
            <a:r>
              <a:rPr lang="en-US" altLang="en-GB" sz="1700"/>
              <a:t>Develop a CAD model and assembly that captures real-world constraints: suspension travel, clearances, and manufacturability.</a:t>
            </a:r>
            <a:endParaRPr lang="en-US" altLang="en-GB" sz="1700"/>
          </a:p>
          <a:p>
            <a:r>
              <a:rPr lang="en-US" altLang="en-GB" sz="1700"/>
              <a:t>Analyze and optimize the spring–damper–wishbone system to ensure structural integrity, ride comfort, and handling performance.</a:t>
            </a:r>
            <a:endParaRPr lang="en-US" altLang="en-GB" sz="1700"/>
          </a:p>
        </p:txBody>
      </p:sp>
      <p:pic>
        <p:nvPicPr>
          <p:cNvPr id="9" name="Content Placeholder 8" descr="Double_Wishbone_Suspension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142865" y="2753360"/>
            <a:ext cx="3048000" cy="2218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DESIGN CONSIDERATIONS</a:t>
            </a:r>
            <a:endParaRPr lang="en-IN" altLang="en-GB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pPr marL="457200" indent="-457200">
              <a:buAutoNum type="arabicPeriod"/>
            </a:pPr>
            <a:r>
              <a:rPr lang="en-US" altLang="en-GB"/>
              <a:t>Structural Integrity</a:t>
            </a:r>
            <a:endParaRPr lang="en-US" altLang="en-GB"/>
          </a:p>
          <a:p>
            <a:r>
              <a:rPr lang="en-US" altLang="en-GB"/>
              <a:t>Use high-strength, fatigue-resistant materials for spring, damper, and wishbone.</a:t>
            </a:r>
            <a:endParaRPr lang="en-US" altLang="en-GB"/>
          </a:p>
          <a:p>
            <a:r>
              <a:rPr lang="en-US" altLang="en-GB"/>
              <a:t>Design joints and contacts to avoid stress concentrations.</a:t>
            </a:r>
            <a:endParaRPr lang="en-US" altLang="en-GB"/>
          </a:p>
          <a:p>
            <a:r>
              <a:rPr lang="en-US" altLang="en-GB"/>
              <a:t>Ensure adequate safety factors for static and fatigue loads</a:t>
            </a:r>
            <a:endParaRPr lang="en-US" altLang="en-GB"/>
          </a:p>
          <a:p>
            <a:pPr marL="0" indent="0">
              <a:buFont typeface="+mj-lt"/>
              <a:buNone/>
            </a:pPr>
            <a:r>
              <a:rPr lang="en-IN" altLang="en-US"/>
              <a:t>2.   </a:t>
            </a:r>
            <a:r>
              <a:rPr lang="en-US" altLang="en-GB"/>
              <a:t> Ride Comfort</a:t>
            </a:r>
            <a:r>
              <a:rPr lang="en-IN" altLang="en-US"/>
              <a:t>:</a:t>
            </a:r>
            <a:endParaRPr lang="en-US" altLang="en-GB"/>
          </a:p>
          <a:p>
            <a:r>
              <a:rPr lang="en-US" altLang="en-GB"/>
              <a:t>Tune spring stiffness to absorb bumps.</a:t>
            </a:r>
            <a:endParaRPr lang="en-US" altLang="en-GB"/>
          </a:p>
          <a:p>
            <a:r>
              <a:rPr lang="en-US" altLang="en-GB"/>
              <a:t>Set damper coefficient to control oscillations without harshness.</a:t>
            </a:r>
            <a:endParaRPr lang="en-US" altLang="en-GB"/>
          </a:p>
          <a:p>
            <a:pPr marL="0" indent="0">
              <a:buNone/>
            </a:pPr>
            <a:r>
              <a:rPr lang="en-IN" altLang="en-US"/>
              <a:t>3.    </a:t>
            </a:r>
            <a:r>
              <a:rPr lang="en-US" altLang="en-GB"/>
              <a:t>Minimum Ride Height</a:t>
            </a:r>
            <a:endParaRPr lang="en-US" altLang="en-GB"/>
          </a:p>
          <a:p>
            <a:r>
              <a:rPr lang="en-US" altLang="en-GB"/>
              <a:t>Ensure the suspension allows proper ground clearance and ergonomically safe vehicle entry/exit without bottoming out.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DESIGN CONSIDERATIONS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 sz="1800"/>
              <a:t>4.  </a:t>
            </a:r>
            <a:r>
              <a:rPr lang="en-US" altLang="en-GB" sz="1800"/>
              <a:t> Damper Ergonomics</a:t>
            </a:r>
            <a:endParaRPr lang="en-US" altLang="en-GB" sz="1800"/>
          </a:p>
          <a:p>
            <a:r>
              <a:rPr lang="en-US" altLang="en-GB" sz="1800"/>
              <a:t>Damper and spring response should provide smooth motion with minimal driver</a:t>
            </a:r>
            <a:r>
              <a:rPr lang="en-IN" altLang="en-US" sz="1800"/>
              <a:t> i</a:t>
            </a:r>
            <a:r>
              <a:rPr lang="en-US" altLang="en-GB" sz="1800"/>
              <a:t>nput force for comfort and control</a:t>
            </a:r>
            <a:r>
              <a:rPr lang="en-US" altLang="en-GB"/>
              <a:t>.</a:t>
            </a:r>
            <a:endParaRPr lang="en-US" altLang="en-GB"/>
          </a:p>
          <a:p>
            <a:pPr marL="0" indent="0">
              <a:buNone/>
            </a:pPr>
            <a:r>
              <a:rPr lang="en-IN" altLang="en-US" sz="1800"/>
              <a:t>5.    </a:t>
            </a:r>
            <a:r>
              <a:rPr lang="en-US" altLang="en-GB" sz="1800"/>
              <a:t>Wishbone Geometry</a:t>
            </a:r>
            <a:endParaRPr lang="en-US" altLang="en-GB" sz="1800"/>
          </a:p>
          <a:p>
            <a:r>
              <a:rPr lang="en-US" altLang="en-GB" sz="1800"/>
              <a:t> </a:t>
            </a:r>
            <a:r>
              <a:rPr lang="en-IN" altLang="en-US" sz="1800"/>
              <a:t>D</a:t>
            </a:r>
            <a:r>
              <a:rPr lang="en-US" altLang="en-GB" sz="1800"/>
              <a:t>imensions of wishbone arms to achieve correct wheel travel and kinematics while keeping the system compact.</a:t>
            </a:r>
            <a:endParaRPr lang="en-US" altLang="en-GB" sz="1800"/>
          </a:p>
          <a:p>
            <a:pPr marL="0" indent="0">
              <a:buNone/>
            </a:pPr>
            <a:r>
              <a:rPr lang="en-IN" altLang="en-US" sz="1800"/>
              <a:t>6.   L</a:t>
            </a:r>
            <a:r>
              <a:rPr lang="en-US" altLang="en-GB" sz="1800"/>
              <a:t>ink Geometry &amp; Joint Placement</a:t>
            </a:r>
            <a:endParaRPr lang="en-US" altLang="en-GB" sz="1800"/>
          </a:p>
          <a:p>
            <a:r>
              <a:rPr lang="en-US" altLang="en-GB" sz="1800"/>
              <a:t>Proper geometry and pivot placement ensure smooth motion, uniform load distribution, and stable suspension operation.</a:t>
            </a:r>
            <a:endParaRPr lang="en-US" altLang="en-GB" sz="1800"/>
          </a:p>
          <a:p>
            <a:pPr marL="0" indent="0">
              <a:buNone/>
            </a:pPr>
            <a:r>
              <a:rPr lang="en-IN" altLang="en-US" sz="1800"/>
              <a:t>7.   </a:t>
            </a:r>
            <a:r>
              <a:rPr lang="en-US" altLang="en-GB" sz="1800"/>
              <a:t>Base &amp; Wheel Stability</a:t>
            </a:r>
            <a:endParaRPr lang="en-US" altLang="en-GB" sz="1800"/>
          </a:p>
          <a:p>
            <a:r>
              <a:rPr lang="en-US" altLang="en-GB" sz="1800"/>
              <a:t>Suspension geometry and spring–damper tuning should maintain vehicle stability, center of gravity, and handling performance during  turns, bumps, and braking.</a:t>
            </a:r>
            <a:endParaRPr lang="en-US" altLang="en-GB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MODELING AND ASSEMBLY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r>
              <a:rPr lang="en-US" altLang="en-GB" sz="1800"/>
              <a:t>Here are the CAD-modeled components that form the complete four-wheeler suspension assembly, including the helical coil spring, hydraulic damper, and double-wishbone arms.</a:t>
            </a:r>
            <a:endParaRPr lang="en-US" altLang="en-GB" sz="1800"/>
          </a:p>
          <a:p>
            <a:r>
              <a:rPr lang="en-US" altLang="en-GB" sz="1800"/>
              <a:t>These visuals help in understanding the geometry, mounting points, kinematics, and overall interaction between the spring–damper unit and the wishbone linkage</a:t>
            </a:r>
            <a:r>
              <a:rPr lang="en-IN" altLang="en-US" sz="1800"/>
              <a:t>.</a:t>
            </a:r>
            <a:endParaRPr lang="en-US" altLang="en-GB" sz="1800"/>
          </a:p>
          <a:p>
            <a:r>
              <a:rPr lang="en-US" altLang="en-GB" sz="1800"/>
              <a:t>They also illustrate</a:t>
            </a:r>
            <a:r>
              <a:rPr lang="en-IN" altLang="en-US" sz="1800"/>
              <a:t> h</a:t>
            </a:r>
            <a:r>
              <a:rPr lang="en-US" altLang="en-GB" sz="1800"/>
              <a:t>ow the spring and damper compress and extend during wheel movement</a:t>
            </a:r>
            <a:r>
              <a:rPr lang="en-IN" altLang="en-US" sz="1800"/>
              <a:t>,t</a:t>
            </a:r>
            <a:r>
              <a:rPr lang="en-US" altLang="en-GB" sz="1800"/>
              <a:t>he upper and lower wishbones control wheel alignment and motion path</a:t>
            </a:r>
            <a:endParaRPr lang="en-US" altLang="en-GB" sz="1800"/>
          </a:p>
        </p:txBody>
      </p:sp>
      <p:pic>
        <p:nvPicPr>
          <p:cNvPr id="5" name="Content Placeholder 4" descr="main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648200" y="1911985"/>
            <a:ext cx="403860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MODELING AND ASSEMBLY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20495"/>
            <a:ext cx="4038600" cy="470598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GB"/>
              <a:t>Damper (Mono-Tube)</a:t>
            </a:r>
            <a:r>
              <a:rPr lang="en-IN" altLang="en-US"/>
              <a:t>:</a:t>
            </a:r>
            <a:endParaRPr lang="en-US" altLang="en-GB"/>
          </a:p>
          <a:p>
            <a:pPr marL="0" indent="0">
              <a:buNone/>
            </a:pPr>
            <a:r>
              <a:rPr lang="en-US" altLang="en-GB" sz="2000"/>
              <a:t>Material Selection</a:t>
            </a:r>
            <a:r>
              <a:rPr lang="en-IN" altLang="en-GB" sz="2000"/>
              <a:t>:</a:t>
            </a:r>
            <a:endParaRPr lang="en-IN" altLang="en-GB" sz="2000"/>
          </a:p>
          <a:p>
            <a:r>
              <a:rPr lang="en-US" altLang="en-GB" sz="2000"/>
              <a:t>High-strength steel or aluminum alloys</a:t>
            </a:r>
            <a:endParaRPr lang="en-US" altLang="en-GB" sz="2000"/>
          </a:p>
          <a:p>
            <a:r>
              <a:rPr lang="en-US" altLang="en-GB" sz="2000"/>
              <a:t>Polymer or rubber sealing materials</a:t>
            </a:r>
            <a:endParaRPr lang="en-US" altLang="en-GB" sz="2000"/>
          </a:p>
          <a:p>
            <a:pPr marL="0" indent="0">
              <a:buNone/>
            </a:pPr>
            <a:r>
              <a:rPr lang="en-IN" altLang="en-US" sz="2000"/>
              <a:t>Function:</a:t>
            </a:r>
            <a:endParaRPr lang="en-IN" altLang="en-US" sz="2000"/>
          </a:p>
          <a:p>
            <a:r>
              <a:rPr lang="en-US" altLang="en-GB" sz="2000"/>
              <a:t>Controls spring oscillations</a:t>
            </a:r>
            <a:endParaRPr lang="en-US" altLang="en-GB" sz="2000"/>
          </a:p>
          <a:p>
            <a:r>
              <a:rPr lang="en-US" altLang="en-GB" sz="2000"/>
              <a:t>Improves ride stability and handling</a:t>
            </a:r>
            <a:endParaRPr lang="en-US" altLang="en-GB" sz="1800"/>
          </a:p>
          <a:p>
            <a:r>
              <a:rPr lang="en-US" altLang="en-GB" sz="1800"/>
              <a:t>Reduces Vibrations &amp; Impacts</a:t>
            </a:r>
            <a:endParaRPr lang="en-US" altLang="en-GB" sz="1800"/>
          </a:p>
        </p:txBody>
      </p:sp>
      <p:pic>
        <p:nvPicPr>
          <p:cNvPr id="5" name="Content Placeholder 4" descr="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038090" y="2154555"/>
            <a:ext cx="325755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MODELING AND ASSEMBLY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7450"/>
            <a:ext cx="4523105" cy="493903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GB"/>
              <a:t>Helical Spring</a:t>
            </a:r>
            <a:r>
              <a:rPr lang="en-IN" altLang="en-US"/>
              <a:t>:</a:t>
            </a:r>
            <a:endParaRPr lang="en-IN" altLang="en-US"/>
          </a:p>
          <a:p>
            <a:pPr marL="0" indent="0">
              <a:buNone/>
            </a:pPr>
            <a:r>
              <a:rPr lang="en-US" altLang="en-GB" sz="1800"/>
              <a:t>Material Selectio</a:t>
            </a:r>
            <a:r>
              <a:rPr lang="en-IN" altLang="en-US" sz="1800"/>
              <a:t>n:</a:t>
            </a:r>
            <a:endParaRPr lang="en-IN" altLang="en-US" sz="1800"/>
          </a:p>
          <a:p>
            <a:r>
              <a:rPr lang="en-US" altLang="en-GB" sz="1800"/>
              <a:t>Chrome–Silicon (Cr–Si) Steel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High strength, excellent fatigue resistance, ideal for heavy-load and high-stress suspension springs.</a:t>
            </a:r>
            <a:endParaRPr lang="en-US" altLang="en-GB" sz="1800"/>
          </a:p>
          <a:p>
            <a:r>
              <a:rPr lang="en-US" altLang="en-GB" sz="1800"/>
              <a:t>Chrome–Vanadium (Cr–V) Steel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Good toughness, high endurance limit, better performance under repeated dynamic loads.</a:t>
            </a:r>
            <a:endParaRPr lang="en-US" altLang="en-GB" sz="1800"/>
          </a:p>
          <a:p>
            <a:r>
              <a:rPr lang="en-US" altLang="en-GB" sz="1800"/>
              <a:t>Spring Steel (High-Carbon Steel)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Cost-effective, reliable option with good elasticity and durability for standard suspension systems.</a:t>
            </a:r>
            <a:endParaRPr lang="en-US" altLang="en-GB" sz="1800"/>
          </a:p>
          <a:p>
            <a:pPr marL="0" indent="0">
              <a:buNone/>
            </a:pPr>
            <a:r>
              <a:rPr lang="en-IN" altLang="en-US" sz="1800"/>
              <a:t>Function:</a:t>
            </a:r>
            <a:endParaRPr lang="en-IN" altLang="en-US" sz="1800"/>
          </a:p>
          <a:p>
            <a:r>
              <a:rPr lang="en-US" altLang="en-GB" sz="1800"/>
              <a:t>Supports Vehicle Weight</a:t>
            </a:r>
            <a:endParaRPr lang="en-US" altLang="en-GB" sz="1800"/>
          </a:p>
          <a:p>
            <a:r>
              <a:rPr lang="en-US" altLang="en-GB" sz="1800"/>
              <a:t>Absorbs Road Shocks</a:t>
            </a:r>
            <a:endParaRPr lang="en-US" altLang="en-GB" sz="1800"/>
          </a:p>
          <a:p>
            <a:r>
              <a:rPr lang="en-US" altLang="en-GB" sz="1800"/>
              <a:t>Maintains Suspension Geometry</a:t>
            </a: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</p:txBody>
      </p:sp>
      <p:pic>
        <p:nvPicPr>
          <p:cNvPr id="6" name="Content Placeholder 5" descr="spring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558790" y="2392680"/>
            <a:ext cx="2216150" cy="2940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MODELING AND ASSEMBLY</a:t>
            </a:r>
            <a:endParaRPr lang="en-GB" altLang="en-US"/>
          </a:p>
        </p:txBody>
      </p:sp>
      <p:pic>
        <p:nvPicPr>
          <p:cNvPr id="5" name="Content Placeholder 4" descr="bone 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369560" y="1543685"/>
            <a:ext cx="3233420" cy="2447290"/>
          </a:xfrm>
          <a:prstGeom prst="rect">
            <a:avLst/>
          </a:prstGeom>
        </p:spPr>
      </p:pic>
      <p:pic>
        <p:nvPicPr>
          <p:cNvPr id="8" name="Content Placeholder 7" descr="bone 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57825" y="4307840"/>
            <a:ext cx="3145155" cy="225933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79070" y="1428750"/>
            <a:ext cx="5012055" cy="525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400"/>
              <a:t>Double</a:t>
            </a:r>
            <a:r>
              <a:rPr lang="en-US" altLang="en-GB" sz="2400"/>
              <a:t> Wishbone </a:t>
            </a:r>
            <a:r>
              <a:rPr lang="en-IN" altLang="en-US" sz="2400"/>
              <a:t>:</a:t>
            </a:r>
            <a:endParaRPr lang="en-IN" altLang="en-US" sz="2400"/>
          </a:p>
          <a:p>
            <a:r>
              <a:rPr lang="en-IN" altLang="en-US"/>
              <a:t>Material selection: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High-strength steel (mild steel or alloy steel)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Aluminum alloy (e.g., 6061-T6 or 7075-T6)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Forged steel (</a:t>
            </a:r>
            <a:r>
              <a:rPr lang="en-IN" altLang="en-US"/>
              <a:t>for</a:t>
            </a:r>
            <a:r>
              <a:rPr lang="en-US" altLang="en-GB"/>
              <a:t> high-performance)</a:t>
            </a:r>
            <a:endParaRPr lang="en-US" altLang="en-GB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>
                <a:sym typeface="+mn-ea"/>
              </a:rPr>
              <a:t>Upper Wishbone (A-Arm)</a:t>
            </a:r>
            <a:r>
              <a:rPr lang="en-IN" altLang="en-US">
                <a:sym typeface="+mn-ea"/>
              </a:rPr>
              <a:t>:</a:t>
            </a:r>
            <a:endParaRPr lang="en-US" altLang="en-GB"/>
          </a:p>
          <a:p>
            <a:r>
              <a:rPr lang="en-IN" altLang="en-US"/>
              <a:t>Function: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Controls upper wheel movement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Provides mounting for damper/spring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Improves vehicle handling</a:t>
            </a:r>
            <a:endParaRPr lang="en-US" altLang="en-GB"/>
          </a:p>
          <a:p>
            <a:r>
              <a:rPr lang="en-IN" altLang="en-US"/>
              <a:t>L</a:t>
            </a:r>
            <a:r>
              <a:rPr lang="en-US" altLang="en-GB"/>
              <a:t>ower Wishbone (A-Arm)</a:t>
            </a:r>
            <a:r>
              <a:rPr lang="en-IN" altLang="en-US"/>
              <a:t>:</a:t>
            </a:r>
            <a:endParaRPr lang="en-IN" altLang="en-US"/>
          </a:p>
          <a:p>
            <a:r>
              <a:rPr lang="en-IN" altLang="en-US"/>
              <a:t>Function:</a:t>
            </a:r>
            <a:endParaRPr lang="en-I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Guides vertical wheel travel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Carries main suspension load</a:t>
            </a:r>
            <a:endParaRPr lang="en-US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Ensures stable support and alignment of the shock absorber.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MODELING AND ASSEMBLY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IN" altLang="en-GB"/>
              <a:t>HUB:</a:t>
            </a:r>
            <a:endParaRPr lang="en-IN" altLang="en-GB"/>
          </a:p>
          <a:p>
            <a:pPr marL="0" indent="0">
              <a:buNone/>
            </a:pPr>
            <a:r>
              <a:rPr lang="en-IN" altLang="en-GB" sz="2000"/>
              <a:t>Material Selection:</a:t>
            </a:r>
            <a:endParaRPr lang="en-IN" altLang="en-GB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sym typeface="+mn-ea"/>
              </a:rPr>
              <a:t>High-strength steel (mild steel or alloy steel)</a:t>
            </a:r>
            <a:endParaRPr lang="en-US" alt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sym typeface="+mn-ea"/>
              </a:rPr>
              <a:t>Aluminum alloy (e.g., 6061-T6 or 7075-T6)</a:t>
            </a:r>
            <a:endParaRPr lang="en-US" alt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800">
                <a:sym typeface="+mn-ea"/>
              </a:rPr>
              <a:t>Forged steel (</a:t>
            </a:r>
            <a:r>
              <a:rPr lang="en-IN" altLang="en-US" sz="1800">
                <a:sym typeface="+mn-ea"/>
              </a:rPr>
              <a:t>for</a:t>
            </a:r>
            <a:r>
              <a:rPr lang="en-US" altLang="en-GB" sz="1800">
                <a:sym typeface="+mn-ea"/>
              </a:rPr>
              <a:t> high-performance)</a:t>
            </a:r>
            <a:endParaRPr lang="en-IN" altLang="en-GB"/>
          </a:p>
          <a:p>
            <a:pPr marL="0" indent="0">
              <a:buNone/>
            </a:pPr>
            <a:r>
              <a:rPr lang="en-IN" altLang="en-GB" sz="2000"/>
              <a:t>Function:</a:t>
            </a:r>
            <a:endParaRPr lang="en-IN" altLang="en-GB" sz="2000"/>
          </a:p>
          <a:p>
            <a:r>
              <a:rPr lang="en-US" altLang="en-GB" sz="1800"/>
              <a:t>Supports and connects suspension components</a:t>
            </a:r>
            <a:endParaRPr lang="en-US" altLang="en-GB" sz="1800"/>
          </a:p>
          <a:p>
            <a:r>
              <a:rPr lang="en-US" altLang="en-GB" sz="1800"/>
              <a:t>Maintains wheel alignment and load distribution</a:t>
            </a:r>
            <a:endParaRPr lang="en-US" altLang="en-GB" sz="1800"/>
          </a:p>
          <a:p>
            <a:r>
              <a:rPr lang="en-US" altLang="en-GB" sz="1800"/>
              <a:t>Provides a rigid base for rotation and braking load</a:t>
            </a:r>
            <a:r>
              <a:rPr lang="en-IN" altLang="en-US" sz="1800"/>
              <a:t>s</a:t>
            </a:r>
            <a:endParaRPr lang="en-IN" altLang="en-US" sz="1800"/>
          </a:p>
        </p:txBody>
      </p:sp>
      <p:pic>
        <p:nvPicPr>
          <p:cNvPr id="5" name="Content Placeholder 4" descr="tyre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130165" y="1830705"/>
            <a:ext cx="30734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CALCULATIONS</a:t>
            </a:r>
            <a:endParaRPr lang="en-IN" altLang="en-GB"/>
          </a:p>
        </p:txBody>
      </p:sp>
      <p:pic>
        <p:nvPicPr>
          <p:cNvPr id="7" name="Content Placeholder 6" descr="calculation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82090" y="2353945"/>
            <a:ext cx="6178550" cy="43053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74005" y="12560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-FOR SPRING</a:t>
            </a:r>
            <a:endParaRPr lang="en-IN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6" name="Content Placeholder 5" descr="calculation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9370" y="1600200"/>
            <a:ext cx="64700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6" name="Content Placeholder 5" descr="cal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2080" y="1729105"/>
            <a:ext cx="635508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8" name="Content Placeholder 7" descr="cal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69390" y="1608455"/>
            <a:ext cx="603313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cal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30680" y="1600200"/>
            <a:ext cx="5315585" cy="45262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28775" y="2710180"/>
            <a:ext cx="2619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1000"/>
              <a:t>according to tresca theory</a:t>
            </a:r>
            <a:endParaRPr lang="en-IN" altLang="en-GB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cal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8610" y="1716405"/>
            <a:ext cx="587883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cal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73555" y="1600200"/>
            <a:ext cx="554164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cal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4785" y="2232025"/>
            <a:ext cx="6403340" cy="29197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fatigue cal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39215" y="1868805"/>
            <a:ext cx="6464300" cy="39878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482590" y="118808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/>
              <a:t>-FOR FATIGUE</a:t>
            </a:r>
            <a:endParaRPr lang="en-IN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fatigue cal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1710" y="1675130"/>
            <a:ext cx="748601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sym typeface="+mn-ea"/>
              </a:rPr>
              <a:t>CALCULATIONS</a:t>
            </a:r>
            <a:endParaRPr lang="en-GB" altLang="en-US"/>
          </a:p>
        </p:txBody>
      </p:sp>
      <p:pic>
        <p:nvPicPr>
          <p:cNvPr id="4" name="Content Placeholder 3" descr="fatigue cal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5205" y="1784350"/>
            <a:ext cx="6984365" cy="36817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CALCULATIONS</a:t>
            </a:r>
            <a:endParaRPr lang="en-IN" altLang="en-GB"/>
          </a:p>
        </p:txBody>
      </p:sp>
      <p:pic>
        <p:nvPicPr>
          <p:cNvPr id="4" name="Content Placeholder 3" descr="CAL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7895" y="2265045"/>
            <a:ext cx="7267575" cy="2631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FEA</a:t>
            </a:r>
            <a:endParaRPr lang="en-IN" altLang="en-GB"/>
          </a:p>
        </p:txBody>
      </p:sp>
      <p:pic>
        <p:nvPicPr>
          <p:cNvPr id="4" name="Content Placeholder 3" descr="fea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4120" y="1600200"/>
            <a:ext cx="679640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FEA</a:t>
            </a:r>
            <a:endParaRPr lang="en-IN" altLang="en-GB"/>
          </a:p>
        </p:txBody>
      </p:sp>
      <p:pic>
        <p:nvPicPr>
          <p:cNvPr id="4" name="Content Placeholder 3" descr="fea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34085" y="1600200"/>
            <a:ext cx="72745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FEA</a:t>
            </a:r>
            <a:endParaRPr lang="en-IN" altLang="en-GB"/>
          </a:p>
        </p:txBody>
      </p:sp>
      <p:pic>
        <p:nvPicPr>
          <p:cNvPr id="4" name="Content Placeholder 3" descr="meshin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8250" y="1600200"/>
            <a:ext cx="666623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/>
              <a:t>CONCLUSION</a:t>
            </a:r>
            <a:endParaRPr lang="en-IN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The suspension system was successfully designed and optimized using a helical spring, damper, and double-wishbone geometry. Material selection and FEA ensured safe stress limits, proper stiffness, and improved vibration control. The final design achieves a balanced combination of ride comfort, stability, and structural strength, making it suitable for real-world vehicle conditions.</a:t>
            </a:r>
            <a:endParaRPr lang="en-US" alt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410"/>
            <a:ext cx="8229600" cy="908685"/>
          </a:xfr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335" y="1070610"/>
            <a:ext cx="8229600" cy="4525963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t>• Shigley’s Mechanical Engineering Design</a:t>
            </a:r>
          </a:p>
          <a:p>
            <a:pPr marL="0" indent="0">
              <a:buNone/>
            </a:pPr>
            <a:r>
              <a:t>• Automotive Suspension Manuals</a:t>
            </a:r>
            <a:r>
              <a:rPr lang="en-IN"/>
              <a:t>-</a:t>
            </a:r>
            <a:endParaRPr lang="en-IN"/>
          </a:p>
          <a:p>
            <a:pPr marL="0" indent="0">
              <a:buNone/>
            </a:pPr>
            <a:r>
              <a:rPr lang="en-US" altLang="en-GB"/>
              <a:t>https://www.toyotabharat.com/documents/brochures/fortuner-mmc/combined-specsheet.pdf</a:t>
            </a:r>
            <a:endParaRPr lang="en-US" altLang="en-GB"/>
          </a:p>
          <a:p>
            <a:pPr marL="0" indent="0">
              <a:buNone/>
            </a:pPr>
            <a:r>
              <a:t>• Research papers</a:t>
            </a:r>
          </a:p>
          <a:p>
            <a:pPr marL="0" indent="0">
              <a:buNone/>
            </a:pPr>
            <a:r>
              <a:rPr lang="en-US" altLang="en-GB"/>
              <a:t>https://www.ijcrt.org/papers/IJCRT2502631.pdf</a:t>
            </a:r>
            <a:endParaRPr lang="en-US" altLang="en-GB"/>
          </a:p>
          <a:p>
            <a:r>
              <a:rPr lang="en-IN"/>
              <a:t>youtube-</a:t>
            </a:r>
            <a:endParaRPr lang="en-IN"/>
          </a:p>
          <a:p>
            <a:pPr marL="0" indent="0">
              <a:buNone/>
            </a:pPr>
            <a:r>
              <a:rPr lang="en-IN" altLang="en-US"/>
              <a:t>1)</a:t>
            </a:r>
            <a:r>
              <a:rPr lang="en-US" altLang="en-GB"/>
              <a:t>https://youtu.be/S_GraRRbxLg?si=6J07aS1lmIBHZagr</a:t>
            </a:r>
            <a:endParaRPr lang="en-US" altLang="en-GB"/>
          </a:p>
          <a:p>
            <a:pPr marL="0" indent="0">
              <a:buNone/>
            </a:pPr>
            <a:r>
              <a:rPr lang="en-IN" altLang="en-US"/>
              <a:t>2)</a:t>
            </a:r>
            <a:r>
              <a:rPr lang="en-US" altLang="en-GB"/>
              <a:t>https://youtu.be/3CmynYyGpnY?si=Gk4DMdzRS7vpd2nl</a:t>
            </a:r>
            <a:endParaRPr lang="en-US" altLang="en-GB"/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5573</Words>
  <Application>WPS Presentation</Application>
  <PresentationFormat>On-screen Show (4:3)</PresentationFormat>
  <Paragraphs>168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Design and Optimization of a Four-Wheeler Suspension System</vt:lpstr>
      <vt:lpstr>OBJECTIVE</vt:lpstr>
      <vt:lpstr>Project Overview &amp;Problem Statement</vt:lpstr>
      <vt:lpstr>Project Overview &amp;Problem Statement</vt:lpstr>
      <vt:lpstr>DESIGN CONSIDERATIONS</vt:lpstr>
      <vt:lpstr>DESIGN CONSIDERATIONS</vt:lpstr>
      <vt:lpstr>MODELING AND ASSEMBLY</vt:lpstr>
      <vt:lpstr>MODELING AND ASSEMBLY</vt:lpstr>
      <vt:lpstr>MODELING AND ASSEMBLY</vt:lpstr>
      <vt:lpstr>MODELING AND ASSEMBLY</vt:lpstr>
      <vt:lpstr>MODELING AND ASSEMBLY</vt:lpstr>
      <vt:lpstr>CALCULATIONS</vt:lpstr>
      <vt:lpstr>CALCULATIONS</vt:lpstr>
      <vt:lpstr>CALCULATIONS</vt:lpstr>
      <vt:lpstr>CALCULATIONS</vt:lpstr>
      <vt:lpstr>CALCULATIONS</vt:lpstr>
      <vt:lpstr>CALCULATIONS</vt:lpstr>
      <vt:lpstr>CALCULATIONS</vt:lpstr>
      <vt:lpstr>CALCULATIONS</vt:lpstr>
      <vt:lpstr>PowerPoint 演示文稿</vt:lpstr>
      <vt:lpstr>PowerPoint 演示文稿</vt:lpstr>
      <vt:lpstr>PowerPoint 演示文稿</vt:lpstr>
      <vt:lpstr>CALCULATIONS</vt:lpstr>
      <vt:lpstr>FEA</vt:lpstr>
      <vt:lpstr>FEA</vt:lpstr>
      <vt:lpstr>FEA</vt:lpstr>
      <vt:lpstr>CONCLUSION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Premsai Macharla</cp:lastModifiedBy>
  <cp:revision>17</cp:revision>
  <dcterms:created xsi:type="dcterms:W3CDTF">2013-01-27T09:14:00Z</dcterms:created>
  <dcterms:modified xsi:type="dcterms:W3CDTF">2025-11-28T04:27:58Z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9DBA874F8E474CB0A275F89AD591B0D9_13</vt:lpwstr>
  </property>
  <property fmtid="{D5CDD505-2E9C-101B-9397-08002B2CF9AE}" pid="3" name="KSOProductBuildVer">
    <vt:lpwstr>2057-12.2.0.23158</vt:lpwstr>
  </property>
</Properties>
</file>